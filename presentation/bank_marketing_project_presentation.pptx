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7343af7d874095" /><Relationship Type="http://schemas.openxmlformats.org/officeDocument/2006/relationships/extended-properties" Target="/docProps/app.xml" Id="Rc09aca39384241f9" /><Relationship Type="http://schemas.openxmlformats.org/officeDocument/2006/relationships/officeDocument" Target="/ppt/presentation.xml" Id="Rea37a2c2911d48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bf15cfd3d24926"/>
  </p:sldMasterIdLst>
  <p:notesMasterIdLst>
    <p:notesMasterId xmlns:r="http://schemas.openxmlformats.org/officeDocument/2006/relationships" r:id="R4b29cfeff9004c02"/>
  </p:notesMasterIdLst>
  <p:sldIdLst>
    <p:sldId xmlns:r="http://schemas.openxmlformats.org/officeDocument/2006/relationships" id="256" r:id="R733ae54c2c4d4514"/>
    <p:sldId xmlns:r="http://schemas.openxmlformats.org/officeDocument/2006/relationships" id="257" r:id="Rbaf560fe60a14076"/>
    <p:sldId xmlns:r="http://schemas.openxmlformats.org/officeDocument/2006/relationships" id="258" r:id="R35bb52534f964a80"/>
    <p:sldId xmlns:r="http://schemas.openxmlformats.org/officeDocument/2006/relationships" id="259" r:id="R42a913479e424c32"/>
    <p:sldId xmlns:r="http://schemas.openxmlformats.org/officeDocument/2006/relationships" id="260" r:id="R5a462ec640394d1f"/>
    <p:sldId xmlns:r="http://schemas.openxmlformats.org/officeDocument/2006/relationships" id="261" r:id="R4a0c0f7a4aef4102"/>
    <p:sldId xmlns:r="http://schemas.openxmlformats.org/officeDocument/2006/relationships" id="262" r:id="R3a19d1dc7a54447d"/>
    <p:sldId xmlns:r="http://schemas.openxmlformats.org/officeDocument/2006/relationships" id="263" r:id="Ra491abe41cc64708"/>
    <p:sldId xmlns:r="http://schemas.openxmlformats.org/officeDocument/2006/relationships" id="264" r:id="R6389b954751341ce"/>
    <p:sldId xmlns:r="http://schemas.openxmlformats.org/officeDocument/2006/relationships" id="265" r:id="R67b329f1f52f4010"/>
    <p:sldId xmlns:r="http://schemas.openxmlformats.org/officeDocument/2006/relationships" id="266" r:id="R9f2da75397dd463a"/>
    <p:sldId xmlns:r="http://schemas.openxmlformats.org/officeDocument/2006/relationships" id="267" r:id="R7e56ccb96d7947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4d0d10df9545d3" /><Relationship Type="http://schemas.openxmlformats.org/officeDocument/2006/relationships/slideMaster" Target="/ppt/slideMasters/slideMaster1.xml" Id="Ra3bf15cfd3d24926" /><Relationship Type="http://schemas.openxmlformats.org/officeDocument/2006/relationships/notesMaster" Target="/ppt/notesMasters/notesMaster1.xml" Id="R4b29cfeff9004c02" /><Relationship Type="http://schemas.openxmlformats.org/officeDocument/2006/relationships/presProps" Target="/ppt/presProps.xml" Id="R16a9e425abee4835" /><Relationship Type="http://schemas.openxmlformats.org/officeDocument/2006/relationships/viewProps" Target="/ppt/viewProps.xml" Id="R9c2d3a5bc50a48bf" /><Relationship Type="http://schemas.openxmlformats.org/officeDocument/2006/relationships/tableStyles" Target="/ppt/tableStyles.xml" Id="R018b7ebaea964685" /><Relationship Type="http://schemas.openxmlformats.org/officeDocument/2006/relationships/slide" Target="/ppt/slides/slide1.xml" Id="R733ae54c2c4d4514" /><Relationship Type="http://schemas.openxmlformats.org/officeDocument/2006/relationships/slide" Target="/ppt/slides/slide2.xml" Id="Rbaf560fe60a14076" /><Relationship Type="http://schemas.openxmlformats.org/officeDocument/2006/relationships/slide" Target="/ppt/slides/slide3.xml" Id="R35bb52534f964a80" /><Relationship Type="http://schemas.openxmlformats.org/officeDocument/2006/relationships/slide" Target="/ppt/slides/slide4.xml" Id="R42a913479e424c32" /><Relationship Type="http://schemas.openxmlformats.org/officeDocument/2006/relationships/slide" Target="/ppt/slides/slide5.xml" Id="R5a462ec640394d1f" /><Relationship Type="http://schemas.openxmlformats.org/officeDocument/2006/relationships/slide" Target="/ppt/slides/slide6.xml" Id="R4a0c0f7a4aef4102" /><Relationship Type="http://schemas.openxmlformats.org/officeDocument/2006/relationships/slide" Target="/ppt/slides/slide7.xml" Id="R3a19d1dc7a54447d" /><Relationship Type="http://schemas.openxmlformats.org/officeDocument/2006/relationships/slide" Target="/ppt/slides/slide8.xml" Id="Ra491abe41cc64708" /><Relationship Type="http://schemas.openxmlformats.org/officeDocument/2006/relationships/slide" Target="/ppt/slides/slide9.xml" Id="R6389b954751341ce" /><Relationship Type="http://schemas.openxmlformats.org/officeDocument/2006/relationships/slide" Target="/ppt/slides/slide10.xml" Id="R67b329f1f52f4010" /><Relationship Type="http://schemas.openxmlformats.org/officeDocument/2006/relationships/slide" Target="/ppt/slides/slide11.xml" Id="R9f2da75397dd463a" /><Relationship Type="http://schemas.openxmlformats.org/officeDocument/2006/relationships/slide" Target="/ppt/slides/slide12.xml" Id="R7e56ccb96d7947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c21d21933a45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f9cc393ba44e46" /><Relationship Type="http://schemas.openxmlformats.org/officeDocument/2006/relationships/notesMaster" Target="/ppt/notesMasters/notesMaster1.xml" Id="Rb7df05a31c1547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71332b2a1641d6" /><Relationship Type="http://schemas.openxmlformats.org/officeDocument/2006/relationships/notesMaster" Target="/ppt/notesMasters/notesMaster1.xml" Id="R23f73fca0f0843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9d884caa874047" /><Relationship Type="http://schemas.openxmlformats.org/officeDocument/2006/relationships/notesMaster" Target="/ppt/notesMasters/notesMaster1.xml" Id="Rb6075ef340a643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480ceb72ec4039" /><Relationship Type="http://schemas.openxmlformats.org/officeDocument/2006/relationships/notesMaster" Target="/ppt/notesMasters/notesMaster1.xml" Id="Ra58f66a98dfd43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2a4cd1fa2e4006" /><Relationship Type="http://schemas.openxmlformats.org/officeDocument/2006/relationships/notesMaster" Target="/ppt/notesMasters/notesMaster1.xml" Id="R83c21558b0c54a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937998fbe74765" /><Relationship Type="http://schemas.openxmlformats.org/officeDocument/2006/relationships/notesMaster" Target="/ppt/notesMasters/notesMaster1.xml" Id="R7081d4ea2aed4b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443072ef62488d" /><Relationship Type="http://schemas.openxmlformats.org/officeDocument/2006/relationships/notesMaster" Target="/ppt/notesMasters/notesMaster1.xml" Id="Rc7ba63ae14f046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a2ed70154e491e" /><Relationship Type="http://schemas.openxmlformats.org/officeDocument/2006/relationships/notesMaster" Target="/ppt/notesMasters/notesMaster1.xml" Id="Rc45451fa6d614f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2c1b1d2dae415e" /><Relationship Type="http://schemas.openxmlformats.org/officeDocument/2006/relationships/notesMaster" Target="/ppt/notesMasters/notesMaster1.xml" Id="R5333fdda0eb048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4990587a9f49f0" /><Relationship Type="http://schemas.openxmlformats.org/officeDocument/2006/relationships/notesMaster" Target="/ppt/notesMasters/notesMaster1.xml" Id="Ra2cc2374ab8143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1aaaf515b74878" /><Relationship Type="http://schemas.openxmlformats.org/officeDocument/2006/relationships/notesMaster" Target="/ppt/notesMasters/notesMaster1.xml" Id="Rb6cfa67ea0c347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b0089092214efc" /><Relationship Type="http://schemas.openxmlformats.org/officeDocument/2006/relationships/notesMaster" Target="/ppt/notesMasters/notesMaster1.xml" Id="R673d15c4fc0149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Ouvrir sur le problème métier : choisir les clients à appeler avant de connaître la durée de l'appel.</a:t>
            </a:r>
          </a:p>
          <a:p xmlns:a="http://schemas.openxmlformats.org/drawingml/2006/main">
            <a:r>
              <a:t>Présenter les trois chiffres comme les repères du projet : données préparées, lift et validation automatisée.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sections Résultat Court, Architecture et Reproduction Locale.</a:t>
            </a:r>
          </a:p>
          <a:p xmlns:a="http://schemas.openxmlformats.org/drawingml/2006/main">
            <a:r>
              <a:t>- SUIVI_PROJET.md, état global au 4 août 2026 et sessions des 3-4 août 2026.</a:t>
            </a:r>
          </a:p>
          <a:p xmlns:a="http://schemas.openxmlformats.org/drawingml/2006/main">
            <a:r>
              <a:t>- Template visuel fourni par l'étudiant : presentation_sp500_clair_data_pro.pptx.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le fait que l'objectif est une aide à la décision marketing et non un système opérationnel complet.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introduction, Méthodologie et Limites.</a:t>
            </a:r>
          </a:p>
          <a:p xmlns:a="http://schemas.openxmlformats.org/drawingml/2006/main">
            <a:r>
              <a:t>- SUIVI_PROJET.md, Travail effectué / Choix du projet.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Décrire brièvement la provenance officielle, puis passer aux risques de fuite et au déséquilibre.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data/dataset_manifest.json.</a:t>
            </a:r>
          </a:p>
          <a:p xmlns:a="http://schemas.openxmlformats.org/drawingml/2006/main">
            <a:r>
              <a:t>- README.md, section Dataset.</a:t>
            </a:r>
          </a:p>
          <a:p xmlns:a="http://schemas.openxmlformats.org/drawingml/2006/main">
            <a:r>
              <a:t>- UCI Machine Learning Repository, Bank Marketing, DOI 10.24432/C5K306.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la chaîne comme un flux simple : source officielle, tables Delta, modèles suivis, puis scoring réutilisable.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sections Architecture, Notebooks Databricks et Exécution Databricks.</a:t>
            </a:r>
          </a:p>
          <a:p xmlns:a="http://schemas.openxmlformats.org/drawingml/2006/main">
            <a:r>
              <a:t>- SUIVI_PROJET.md, sessions ingestion Bronze, Silver, modélisation et inférence.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 pas lister les outils pour eux-mêmes : associer chaque outil à une responsabilité du projet.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sections Architecture, Expériences MLflow, Reproduction Locale et Données et DVC.</a:t>
            </a:r>
          </a:p>
          <a:p xmlns:a="http://schemas.openxmlformats.org/drawingml/2006/main">
            <a:r>
              <a:t>- requirements.txt et .github/workflows/ci.yml.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Relier cette slide au principal risque méthodologique : une variable connue seulement après l'appel fausserait le modèle.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sections Méthodologie et Modèle Final.</a:t>
            </a:r>
          </a:p>
          <a:p xmlns:a="http://schemas.openxmlformats.org/drawingml/2006/main">
            <a:r>
              <a:t>- notebooks/databricks/03_preprocessing_silver.py.</a:t>
            </a:r>
          </a:p>
          <a:p xmlns:a="http://schemas.openxmlformats.org/drawingml/2006/main">
            <a:r>
              <a:t>- data/dataset_manifest.json.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que MLflow sert de journal expérimental : runs séparés pour baselines, tuning, final, interprétation et inférence.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sections Modèle Final et Expériences MLflow.</a:t>
            </a:r>
          </a:p>
          <a:p xmlns:a="http://schemas.openxmlformats.org/drawingml/2006/main">
            <a:r>
              <a:t>- SUIVI_PROJET.md, sessions baselines, tuning, évaluation finale et démonstration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Mettre en avant la capacité à reprendre le projet : un dépôt, une configuration Databricks et des contrôles automatisés.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sections Reproduction Locale et Exécution Databricks.</a:t>
            </a:r>
          </a:p>
          <a:p xmlns:a="http://schemas.openxmlformats.org/drawingml/2006/main">
            <a:r>
              <a:t>- SUIVI_PROJET.md, sessions Databricks CLI, README final et validation locale.</a:t>
            </a:r>
          </a:p>
          <a:p xmlns:a="http://schemas.openxmlformats.org/drawingml/2006/main">
            <a:r>
              <a:t>- .github/workflows/ci.yml.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les résultats avec prudence : le lift est positif, mais le rappel montre que beaucoup de souscriptions restent manquées.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section Résultat Court.</a:t>
            </a:r>
          </a:p>
          <a:p xmlns:a="http://schemas.openxmlformats.org/drawingml/2006/main">
            <a:r>
              <a:t>- SUIVI_PROJET.md, séance Évaluation finale et séance Sérialisation et démonstration de prédiction.</a:t>
            </a:r>
          </a:p>
          <a:p xmlns:a="http://schemas.openxmlformats.org/drawingml/2006/main">
            <a:r>
              <a:t>- notebooks/databricks/06_final_evaluation.py et 08_inference_demo.py.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de cette slide une discussion d'apprentissage : les problèmes techniques ont mené à des décisions de design plus robustes.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SUIVI_PROJET.md, problèmes rencontrés et décisions DEC-016, DEC-021, DEC-024 et DEC-026.</a:t>
            </a:r>
          </a:p>
          <a:p xmlns:a="http://schemas.openxmlformats.org/drawingml/2006/main">
            <a:r>
              <a:t>- README.md, sections Limites et Exécution Databricks.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Nommer les limites explicitement. Cela montre que le modèle est compris et que les résultats ne sont pas sur-vendus.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sections Résultat Court et Limites.</a:t>
            </a:r>
          </a:p>
          <a:p xmlns:a="http://schemas.openxmlformats.org/drawingml/2006/main">
            <a:r>
              <a:t>- SUIVI_PROJET.md, séances Évaluation finale et Analyse des erreurs et interprétation.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Fermer avec une synthèse simple : le projet est complet techniquement, mais l'usage du modèle doit rester prudent.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sections Architecture, Modèle Final, Prédire de Nouveaux Clients et Limites.</a:t>
            </a:r>
          </a:p>
          <a:p xmlns:a="http://schemas.openxmlformats.org/drawingml/2006/main">
            <a:r>
              <a:t>- SUIVI_PROJET.md, état global au 4 août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cd85e105145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51af2b25446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1d41b34fa40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69122d21a47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f118b600845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4bb59683142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cd9df6ff84f7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0c791e067484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3e6f113a244e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858d3d79742b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15d1b5ad44fc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2CF709-F04D-4F31-9C49-3FB6D7004B8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74B103F-ED22-435F-9F1C-F030D73870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A09E6E-6B5C-49C0-8EED-EF8E848DC5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8FFCD9-0A22-4057-A89B-7B62EA0B23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CC4549-A335-46EB-9A3B-38590FA140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AA21B2-F667-4028-9BB7-2722BCE72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3D399A-A3F5-4C22-8C4D-41351CDE37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F7E637-A9E5-4141-A9A1-AC944BE51B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730C66-19EB-44DA-84DF-41AB9D67A4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0FD642-53EF-4F7D-8CF1-6FBE3DE358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4DF47-14EC-479E-B803-408E4E2F1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2CC2FE-4D1F-464B-855E-38F501F5F0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C8B19C-C6E1-406B-BF44-83B09F476E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C0A6DB-4E91-4D8D-91DE-343D3E5EB9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EA12EF-94B8-4F65-AB3B-3372977101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D45B31-1898-4AA9-8916-C1DF6F929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A2A4381-1844-441F-800B-38B471DB22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4EEDBC2-0027-4FB4-BC48-68194CEBC4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F18FB0E-DB5B-4B60-9D59-C0DB8B1BD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DFE801B-35D5-4E3E-9E57-60C9FD006C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115230A-9CBE-40CF-88CA-648CA28B3E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F1DB38-3258-411F-A1B4-903BC4888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4A9DF3-87FA-4240-9A4F-9D97C75732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2A80FB4-6DCC-4774-8490-B17D551DD68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D22DA5C-C02E-4FB8-B17D-D73EA8C52A4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CC08F44-4272-47B4-B6E0-194974427E2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CD19A2F-449C-4C17-9569-3A0CBCDF5C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6162210-B104-4A51-BFA5-45ADE507C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65EFCF0-93CC-488E-A28F-CA839EB83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656B94-FEBA-4ACF-9AA9-0F51BA889C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8602557-4F32-4B61-A3C3-F1821E1E7E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ABEFA24-CCF2-4EFC-B503-9476A8332D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195B43B-1E37-4358-B648-A0AE15623B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6C01487-7AE2-4CE4-BFCD-8D8C3E4781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4D7D80F-25C7-465C-9F56-8E70BD9064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ABAD36-1313-4C22-B779-403974513B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88FCE3-81A3-45D8-9A8A-8B034926B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908D8D-C98A-4B9A-B619-D284228D3D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BFC2524-9725-4CAA-9B00-45EE16A6BA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196C5A7-71BF-4C2B-8844-40AB57F0D8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0B61DAD-A06C-4DE5-BC18-D3A61EA5E5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A38AA33-626D-4E98-B8B2-BD21E5C90A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3644F1-E2A3-4A5E-8AFA-BF3B53880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4737350-0A0C-46A8-B61A-1B2052C3BDD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DE445CB-1C27-453E-A1CF-2EA2E99779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C317871-D452-4C31-9B81-3BFAA37401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F2874C1-F0C3-4836-9635-E70BF8FFB6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EAEE71D-6288-475E-8ABC-F98028D0F6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D7AC33-2378-4C56-A96D-6489EA7073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71A45E-DB0C-4EB4-B80C-DDDF38C254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499EBB5-D13C-4E55-9A1D-9729152CF4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67F74E-0B55-4DE4-9277-47CFE387F3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2B1D5F-BEC9-41A6-BB54-4682DAF32C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0591CAB-B06F-40FA-8FE3-0644C944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A38ED0-06B3-4656-BA3A-52ADE2F1FC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3FF2CD5-FDED-415D-B6C3-E23A6DAC86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B033B6-5ABA-41A4-A608-AD0F9B0E36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0AC735-F1F1-4906-B361-B407AA4E4F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626d3de3dc4ecf" /><Relationship Type="http://schemas.openxmlformats.org/officeDocument/2006/relationships/slideLayout" Target="/ppt/slideLayouts/slideLayout1.xml" Id="Rf52eb1e89a224b98" /><Relationship Type="http://schemas.openxmlformats.org/officeDocument/2006/relationships/slideLayout" Target="/ppt/slideLayouts/slideLayout2.xml" Id="Rb36877674aa44961" /><Relationship Type="http://schemas.openxmlformats.org/officeDocument/2006/relationships/slideLayout" Target="/ppt/slideLayouts/slideLayout3.xml" Id="R9157b492c21a4e8a" /><Relationship Type="http://schemas.openxmlformats.org/officeDocument/2006/relationships/slideLayout" Target="/ppt/slideLayouts/slideLayout4.xml" Id="R9dc21a9fd40c4cd2" /><Relationship Type="http://schemas.openxmlformats.org/officeDocument/2006/relationships/slideLayout" Target="/ppt/slideLayouts/slideLayout5.xml" Id="R403c6edc824a49db" /><Relationship Type="http://schemas.openxmlformats.org/officeDocument/2006/relationships/slideLayout" Target="/ppt/slideLayouts/slideLayout6.xml" Id="R662607dd6eda4246" /><Relationship Type="http://schemas.openxmlformats.org/officeDocument/2006/relationships/slideLayout" Target="/ppt/slideLayouts/slideLayout7.xml" Id="R31c2f515bd9d46a8" /><Relationship Type="http://schemas.openxmlformats.org/officeDocument/2006/relationships/slideLayout" Target="/ppt/slideLayouts/slideLayout8.xml" Id="R0339a18ad11943f2" /><Relationship Type="http://schemas.openxmlformats.org/officeDocument/2006/relationships/slideLayout" Target="/ppt/slideLayouts/slideLayout9.xml" Id="R8e7398e99d164de9" /><Relationship Type="http://schemas.openxmlformats.org/officeDocument/2006/relationships/slideLayout" Target="/ppt/slideLayouts/slideLayout10.xml" Id="R175cb9df83b84508" /><Relationship Type="http://schemas.openxmlformats.org/officeDocument/2006/relationships/slideLayout" Target="/ppt/slideLayouts/slideLayout11.xml" Id="R2da83957c8d4421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6AF5BAE-9BC8-4514-B586-2CFE88E24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AB27350-9DE3-4F0D-B616-BC4F88E4B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46EA4E5-5499-4DF6-B0A5-2973E49266A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3/31/2026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11AC0C-02CF-4412-90D2-48D06BA0C8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1962B3-BE04-4744-BADA-462D0BB559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eb1e89a224b98"/>
    <p:sldLayoutId xmlns:r="http://schemas.openxmlformats.org/officeDocument/2006/relationships" id="2147483650" r:id="Rb36877674aa44961"/>
    <p:sldLayoutId xmlns:r="http://schemas.openxmlformats.org/officeDocument/2006/relationships" id="2147483651" r:id="R9157b492c21a4e8a"/>
    <p:sldLayoutId xmlns:r="http://schemas.openxmlformats.org/officeDocument/2006/relationships" id="2147483652" r:id="R9dc21a9fd40c4cd2"/>
    <p:sldLayoutId xmlns:r="http://schemas.openxmlformats.org/officeDocument/2006/relationships" id="2147483653" r:id="R403c6edc824a49db"/>
    <p:sldLayoutId xmlns:r="http://schemas.openxmlformats.org/officeDocument/2006/relationships" id="2147483654" r:id="R662607dd6eda4246"/>
    <p:sldLayoutId xmlns:r="http://schemas.openxmlformats.org/officeDocument/2006/relationships" id="2147483655" r:id="R31c2f515bd9d46a8"/>
    <p:sldLayoutId xmlns:r="http://schemas.openxmlformats.org/officeDocument/2006/relationships" id="2147483656" r:id="R0339a18ad11943f2"/>
    <p:sldLayoutId xmlns:r="http://schemas.openxmlformats.org/officeDocument/2006/relationships" id="2147483657" r:id="R8e7398e99d164de9"/>
    <p:sldLayoutId xmlns:r="http://schemas.openxmlformats.org/officeDocument/2006/relationships" id="2147483658" r:id="R175cb9df83b84508"/>
    <p:sldLayoutId xmlns:r="http://schemas.openxmlformats.org/officeDocument/2006/relationships" id="2147483659" r:id="R2da83957c8d4421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6ff8e8dfee46e3" /><Relationship Type="http://schemas.openxmlformats.org/officeDocument/2006/relationships/notesSlide" Target="/ppt/notesSlides/notesSlide1.xml" Id="Rb33f5ca274634c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5112e3661f47fa" /><Relationship Type="http://schemas.openxmlformats.org/officeDocument/2006/relationships/notesSlide" Target="/ppt/notesSlides/notesSlide2.xml" Id="R5a41019a904c46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c30964d49a4db1" /><Relationship Type="http://schemas.openxmlformats.org/officeDocument/2006/relationships/notesSlide" Target="/ppt/notesSlides/notesSlide3.xml" Id="R0e0d7c175ec340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ea047bfd284ba2" /><Relationship Type="http://schemas.openxmlformats.org/officeDocument/2006/relationships/notesSlide" Target="/ppt/notesSlides/notesSlide4.xml" Id="R16f0751a39c748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e0956696c64993" /><Relationship Type="http://schemas.openxmlformats.org/officeDocument/2006/relationships/notesSlide" Target="/ppt/notesSlides/notesSlide5.xml" Id="R02abf0f71cb440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2eb365a0304ba0" /><Relationship Type="http://schemas.openxmlformats.org/officeDocument/2006/relationships/notesSlide" Target="/ppt/notesSlides/notesSlide6.xml" Id="R220c4eeb7a414b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0b67b182b4498a" /><Relationship Type="http://schemas.openxmlformats.org/officeDocument/2006/relationships/notesSlide" Target="/ppt/notesSlides/notesSlide7.xml" Id="Rf2b9e252965141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fab2c62bbe4693" /><Relationship Type="http://schemas.openxmlformats.org/officeDocument/2006/relationships/notesSlide" Target="/ppt/notesSlides/notesSlide8.xml" Id="R1fe2bbed199042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71893a480d48a2" /><Relationship Type="http://schemas.openxmlformats.org/officeDocument/2006/relationships/notesSlide" Target="/ppt/notesSlides/notesSlide9.xml" Id="R36367a4e9a9e45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442672e8b24aae" /><Relationship Type="http://schemas.openxmlformats.org/officeDocument/2006/relationships/notesSlide" Target="/ppt/notesSlides/notesSlide10.xml" Id="R0665b3ef1c0f4c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8559859dbd44cb" /><Relationship Type="http://schemas.openxmlformats.org/officeDocument/2006/relationships/notesSlide" Target="/ppt/notesSlides/notesSlide11.xml" Id="Rce425d564f354f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83c659c9e347cf" /><Relationship Type="http://schemas.openxmlformats.org/officeDocument/2006/relationships/notesSlide" Target="/ppt/notesSlides/notesSlide12.xml" Id="R5eb16a40bdf34d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666F379B-B667-42FE-8D83-78C0414F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11064240" cy="4206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8B45F0C-08C5-4841-B373-58516A34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188720"/>
            <a:ext cx="5596404" cy="1760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Bank Marketing</a:t>
            </a:r>
          </a:p>
          <a:p xmlns:a="http://schemas.openxmlformats.org/drawingml/2006/main">
            <a:r>
              <a:rPr sz="21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Prioriser les appels avec une pipeline ML reproductible</a:t>
            </a:r>
          </a:p>
          <a:p xmlns:a="http://schemas.openxmlformats.org/drawingml/2006/main">
            <a:r>
              <a:rPr sz="1300">
                <a:solidFill>
                  <a:srgbClr val="5C697A"/>
                </a:solidFill>
                <a:latin typeface="Aptos"/>
                <a:ea typeface="Aptos"/>
                <a:cs typeface="Aptos"/>
              </a:rPr>
              <a:t>Projet de session | 420-C74-BB | Techniques d'apprentissage automatique</a:t>
            </a:r>
          </a:p>
          <a:p xmlns:a="http://schemas.openxmlformats.org/drawingml/2006/main">
            <a:r>
              <a:rPr sz="600">
                <a:solidFill>
                  <a:srgbClr val="5C697A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2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Présenté par : Abdourahmane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4015693-C897-47E5-844F-AC2AB431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03320"/>
            <a:ext cx="10972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2EF"/>
          </a:solidFill>
          <a:ln xmlns:a="http://schemas.openxmlformats.org/drawingml/2006/main">
            <a:solidFill>
              <a:srgbClr val="DCF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1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Databricks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299E162-89BD-4A8D-8073-739A26C7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703320"/>
            <a:ext cx="118872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2EF"/>
          </a:solidFill>
          <a:ln xmlns:a="http://schemas.openxmlformats.org/drawingml/2006/main">
            <a:solidFill>
              <a:srgbClr val="DCF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1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Delta Lake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F3EE07C-A21C-4AF7-AC4C-11B11891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03320"/>
            <a:ext cx="10972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2EF"/>
          </a:solidFill>
          <a:ln xmlns:a="http://schemas.openxmlformats.org/drawingml/2006/main">
            <a:solidFill>
              <a:srgbClr val="DCF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1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MLflow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B605600-7F0A-4110-87CB-BDB950C0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03320"/>
            <a:ext cx="10972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2EF"/>
          </a:solidFill>
          <a:ln xmlns:a="http://schemas.openxmlformats.org/drawingml/2006/main">
            <a:solidFill>
              <a:srgbClr val="DCF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1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scikit-learn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2BC68A9-B5DC-45FF-BAF8-7616B0DC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703320"/>
            <a:ext cx="118872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2EF"/>
          </a:solidFill>
          <a:ln xmlns:a="http://schemas.openxmlformats.org/drawingml/2006/main">
            <a:solidFill>
              <a:srgbClr val="DCF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1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DVC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898B67C-9ED4-4E23-8D80-A6CBB0B9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03320"/>
            <a:ext cx="173736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2EF"/>
          </a:solidFill>
          <a:ln xmlns:a="http://schemas.openxmlformats.org/drawingml/2006/main">
            <a:solidFill>
              <a:srgbClr val="DCF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1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6EF2EB9-377A-4D16-A794-57EE0351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234440"/>
            <a:ext cx="2377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2034CF-B775-4008-BF3B-52F8FAC2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1344168"/>
            <a:ext cx="2231136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28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41 176</a:t>
            </a:r>
          </a:p>
          <a:p xmlns:a="http://schemas.openxmlformats.org/drawingml/2006/main">
            <a:pPr algn="ctr"/>
            <a:r>
              <a:rPr sz="1200">
                <a:solidFill>
                  <a:srgbClr val="6B778C"/>
                </a:solidFill>
                <a:latin typeface="Aptos"/>
                <a:ea typeface="Aptos"/>
                <a:cs typeface="Aptos"/>
              </a:rPr>
              <a:t>lignes Silver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4AFB0DA-DABF-4813-9C14-CCB4CB05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514600"/>
            <a:ext cx="2377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506B9BD-6C7B-41D3-96A1-6D74816B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624328"/>
            <a:ext cx="2231136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28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1.31x</a:t>
            </a:r>
          </a:p>
          <a:p xmlns:a="http://schemas.openxmlformats.org/drawingml/2006/main">
            <a:pPr algn="ctr"/>
            <a:r>
              <a:rPr sz="1200">
                <a:solidFill>
                  <a:srgbClr val="6B778C"/>
                </a:solidFill>
                <a:latin typeface="Aptos"/>
                <a:ea typeface="Aptos"/>
                <a:cs typeface="Aptos"/>
              </a:rPr>
              <a:t>lift top 10 %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F037470-301F-4337-A8EC-924E1B7B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377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C9E9C7D-42ED-4455-B221-E54908EF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904488"/>
            <a:ext cx="2231136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28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31</a:t>
            </a:r>
          </a:p>
          <a:p xmlns:a="http://schemas.openxmlformats.org/drawingml/2006/main">
            <a:pPr algn="ctr"/>
            <a:r>
              <a:rPr sz="1200">
                <a:solidFill>
                  <a:srgbClr val="6B778C"/>
                </a:solidFill>
                <a:latin typeface="Aptos"/>
                <a:ea typeface="Aptos"/>
                <a:cs typeface="Aptos"/>
              </a:rPr>
              <a:t>tests validés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A6C020C-72E3-4018-A173-F239F68E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435534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6AB598B-CA2A-43A0-ACAF-200D2F7C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04775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Contexte et objectif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C1FBB0-333D-4D06-A8D3-755597F6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0467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C697A"/>
                </a:solidFill>
                <a:latin typeface="Aptos"/>
                <a:ea typeface="Aptos"/>
                <a:cs typeface="Aptos"/>
              </a:rPr>
              <a:t>Prioriser les appels avant contact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E0CD075-4903-456D-9725-234CA742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0972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B7333B2-925A-46E0-8F5E-A3077A6A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7472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0D32369-0727-4A3F-9974-5B588492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747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1BD0856-A93C-401C-8810-9455978B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1581912"/>
            <a:ext cx="3145536" cy="1431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Contexte</a:t>
            </a:r>
          </a:p>
          <a:p xmlns:a="http://schemas.openxmlformats.org/drawingml/2006/main">
            <a:r>
              <a:rPr sz="1220">
                <a:solidFill>
                  <a:srgbClr val="243B53"/>
                </a:solidFill>
                <a:latin typeface="Aptos"/>
                <a:ea typeface="Aptos"/>
                <a:cs typeface="Aptos"/>
              </a:rPr>
              <a:t>Une campagne téléphonique coûte du temps agent.</a:t>
            </a:r>
          </a:p>
          <a:p xmlns:a="http://schemas.openxmlformats.org/drawingml/2006/main">
            <a:r>
              <a:rPr sz="1220">
                <a:solidFill>
                  <a:srgbClr val="243B53"/>
                </a:solidFill>
                <a:latin typeface="Aptos"/>
                <a:ea typeface="Aptos"/>
                <a:cs typeface="Aptos"/>
              </a:rPr>
              <a:t>Appeler des clients peu susceptibles de souscrire réduit l'efficacité.</a:t>
            </a:r>
          </a:p>
          <a:p xmlns:a="http://schemas.openxmlformats.org/drawingml/2006/main">
            <a:r>
              <a:rPr sz="1220">
                <a:solidFill>
                  <a:srgbClr val="243B53"/>
                </a:solidFill>
                <a:latin typeface="Aptos"/>
                <a:ea typeface="Aptos"/>
                <a:cs typeface="Aptos"/>
              </a:rPr>
              <a:t>Le modèle doit agir avant l'appel, pas après.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CBE04E5-AF13-4281-B738-4B25B230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47472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394DBDA-1A17-4BE9-BC8D-BBF35C5A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4747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1134700-F734-411C-8875-B0CC5848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581912"/>
            <a:ext cx="3145536" cy="1466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Objectif</a:t>
            </a:r>
          </a:p>
          <a:p xmlns:a="http://schemas.openxmlformats.org/drawingml/2006/main">
            <a:r>
              <a:rPr sz="1220">
                <a:solidFill>
                  <a:srgbClr val="243B53"/>
                </a:solidFill>
                <a:latin typeface="Aptos"/>
                <a:ea typeface="Aptos"/>
                <a:cs typeface="Aptos"/>
              </a:rPr>
              <a:t>Estimer la probabilité de souscription à un dépôt à terme.</a:t>
            </a:r>
          </a:p>
          <a:p xmlns:a="http://schemas.openxmlformats.org/drawingml/2006/main">
            <a:r>
              <a:rPr sz="1220">
                <a:solidFill>
                  <a:srgbClr val="243B53"/>
                </a:solidFill>
                <a:latin typeface="Aptos"/>
                <a:ea typeface="Aptos"/>
                <a:cs typeface="Aptos"/>
              </a:rPr>
              <a:t>Classer les clients pour concentrer les appels sur les meilleurs scores.</a:t>
            </a:r>
          </a:p>
          <a:p xmlns:a="http://schemas.openxmlformats.org/drawingml/2006/main">
            <a:r>
              <a:rPr sz="1220">
                <a:solidFill>
                  <a:srgbClr val="243B53"/>
                </a:solidFill>
                <a:latin typeface="Aptos"/>
                <a:ea typeface="Aptos"/>
                <a:cs typeface="Aptos"/>
              </a:rPr>
              <a:t>Conserver une évaluation chronologique réaliste.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7F40007-3508-4F91-8DDA-9BB8835D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47472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ED5D996-7232-44C5-86E0-DC431943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4747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6B6553D-0E48-48DA-BDAA-74FF5977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581912"/>
            <a:ext cx="3145536" cy="1431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Livrable attendu</a:t>
            </a:r>
          </a:p>
          <a:p xmlns:a="http://schemas.openxmlformats.org/drawingml/2006/main">
            <a:r>
              <a:rPr sz="1220">
                <a:solidFill>
                  <a:srgbClr val="243B53"/>
                </a:solidFill>
                <a:latin typeface="Aptos"/>
                <a:ea typeface="Aptos"/>
                <a:cs typeface="Aptos"/>
              </a:rPr>
              <a:t>Pipeline Databricks + Delta, suivi MLflow et DVC.</a:t>
            </a:r>
          </a:p>
          <a:p xmlns:a="http://schemas.openxmlformats.org/drawingml/2006/main">
            <a:r>
              <a:rPr sz="1220">
                <a:solidFill>
                  <a:srgbClr val="243B53"/>
                </a:solidFill>
                <a:latin typeface="Aptos"/>
                <a:ea typeface="Aptos"/>
                <a:cs typeface="Aptos"/>
              </a:rPr>
              <a:t>Modèles scikit-learn comparés sans consulter le test.</a:t>
            </a:r>
          </a:p>
          <a:p xmlns:a="http://schemas.openxmlformats.org/drawingml/2006/main">
            <a:r>
              <a:rPr sz="1220">
                <a:solidFill>
                  <a:srgbClr val="243B53"/>
                </a:solidFill>
                <a:latin typeface="Aptos"/>
                <a:ea typeface="Aptos"/>
                <a:cs typeface="Aptos"/>
              </a:rPr>
              <a:t>Démonstration de prédiction réutilisable.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EA02F38-88E6-4F94-B14A-9535F9C2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10515600" cy="630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Message clé</a:t>
            </a:r>
          </a:p>
          <a:p xmlns:a="http://schemas.openxmlformats.org/drawingml/2006/main">
            <a:r>
              <a:rPr sz="1400">
                <a:solidFill>
                  <a:srgbClr val="243B53"/>
                </a:solidFill>
                <a:latin typeface="Aptos"/>
                <a:ea typeface="Aptos"/>
                <a:cs typeface="Aptos"/>
              </a:rPr>
              <a:t>Le projet optimise une décision de priorisation, pas seulement une accuracy.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605C8F-E3F5-41C7-BE80-CAB0010A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042312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A0421D9-24DF-4E85-8CF4-8BE98E69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04775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Source de données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8B859B5-3E57-4014-AD48-2699B5F7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0467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C697A"/>
                </a:solidFill>
                <a:latin typeface="Aptos"/>
                <a:ea typeface="Aptos"/>
                <a:cs typeface="Aptos"/>
              </a:rPr>
              <a:t>UCI Bank Marketing - bank-additional-full.csv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049793-F091-4F7F-8417-2647AC2F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0972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97F2964-A7E2-4B20-B588-26851F60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1"/>
            <a:ext cx="53949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21AE767-03BC-4830-BDA8-7B252C53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9496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88FD2C6-D1AA-4DB3-8CC9-5D284655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1581912"/>
            <a:ext cx="5065776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Source cible</a:t>
            </a:r>
          </a:p>
          <a:p xmlns:a="http://schemas.openxmlformats.org/drawingml/2006/main">
            <a:r>
              <a:rPr sz="1150">
                <a:solidFill>
                  <a:srgbClr val="243B53"/>
                </a:solidFill>
                <a:latin typeface="Aptos"/>
                <a:ea typeface="Aptos"/>
                <a:cs typeface="Aptos"/>
              </a:rPr>
              <a:t>41 188 lignes brutes, 20 prédicteurs + cible y.</a:t>
            </a:r>
          </a:p>
          <a:p xmlns:a="http://schemas.openxmlformats.org/drawingml/2006/main">
            <a:r>
              <a:rPr sz="1150">
                <a:solidFill>
                  <a:srgbClr val="243B53"/>
                </a:solidFill>
                <a:latin typeface="Aptos"/>
                <a:ea typeface="Aptos"/>
                <a:cs typeface="Aptos"/>
              </a:rPr>
              <a:t>Période couverte : mai 2008 à novembre 2010.</a:t>
            </a:r>
          </a:p>
          <a:p xmlns:a="http://schemas.openxmlformats.org/drawingml/2006/main">
            <a:r>
              <a:rPr sz="1150">
                <a:solidFill>
                  <a:srgbClr val="243B53"/>
                </a:solidFill>
                <a:latin typeface="Aptos"/>
                <a:ea typeface="Aptos"/>
                <a:cs typeface="Aptos"/>
              </a:rPr>
              <a:t>Licence CC BY 4.0, citation Moro, Rita et Cortez.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DB1D512-64CA-4538-A711-D509879C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530352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8EDACA-96DB-45FD-995A-AFD0A864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53035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76F8DA-BF4D-4F9D-A9B3-39F3496C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1581912"/>
            <a:ext cx="4974336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Colonnes et cible</a:t>
            </a:r>
          </a:p>
          <a:p xmlns:a="http://schemas.openxmlformats.org/drawingml/2006/main">
            <a:r>
              <a:rPr sz="1150">
                <a:solidFill>
                  <a:srgbClr val="243B53"/>
                </a:solidFill>
                <a:latin typeface="Aptos"/>
                <a:ea typeface="Aptos"/>
                <a:cs typeface="Aptos"/>
              </a:rPr>
              <a:t>Variables client, contact, campagne et contexte économique.</a:t>
            </a:r>
          </a:p>
          <a:p xmlns:a="http://schemas.openxmlformats.org/drawingml/2006/main">
            <a:r>
              <a:rPr sz="1150">
                <a:solidFill>
                  <a:srgbClr val="243B53"/>
                </a:solidFill>
                <a:latin typeface="Aptos"/>
                <a:ea typeface="Aptos"/>
                <a:cs typeface="Aptos"/>
              </a:rPr>
              <a:t>Classe positive yes : 4 640 lignes, environ 11,27 %.</a:t>
            </a:r>
          </a:p>
          <a:p xmlns:a="http://schemas.openxmlformats.org/drawingml/2006/main">
            <a:r>
              <a:rPr sz="1150">
                <a:solidFill>
                  <a:srgbClr val="243B53"/>
                </a:solidFill>
                <a:latin typeface="Aptos"/>
                <a:ea typeface="Aptos"/>
                <a:cs typeface="Aptos"/>
              </a:rPr>
              <a:t>Déséquilibre traité par des métriques adaptées.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83CCC18-10B2-4AF3-BCE0-A551A787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03320"/>
            <a:ext cx="53035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38CE4DC-8437-4312-8D25-F85F764B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03320"/>
            <a:ext cx="53035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4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CBAC87-1C7F-4F7B-96A0-ED3076AC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3867911"/>
            <a:ext cx="4974336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Contraintes identifiées</a:t>
            </a:r>
          </a:p>
          <a:p xmlns:a="http://schemas.openxmlformats.org/drawingml/2006/main">
            <a:r>
              <a:rPr sz="1150">
                <a:solidFill>
                  <a:srgbClr val="243B53"/>
                </a:solidFill>
                <a:latin typeface="Aptos"/>
                <a:ea typeface="Aptos"/>
                <a:cs typeface="Aptos"/>
              </a:rPr>
              <a:t>12 doublons exacts retirés en Silver.</a:t>
            </a:r>
          </a:p>
          <a:p xmlns:a="http://schemas.openxmlformats.org/drawingml/2006/main">
            <a:r>
              <a:rPr sz="1150">
                <a:solidFill>
                  <a:srgbClr val="243B53"/>
                </a:solidFill>
                <a:latin typeface="Aptos"/>
                <a:ea typeface="Aptos"/>
                <a:cs typeface="Aptos"/>
              </a:rPr>
              <a:t>unknown conservé comme catégorie explicite.</a:t>
            </a:r>
          </a:p>
          <a:p xmlns:a="http://schemas.openxmlformats.org/drawingml/2006/main">
            <a:r>
              <a:rPr sz="1150">
                <a:solidFill>
                  <a:srgbClr val="243B53"/>
                </a:solidFill>
                <a:latin typeface="Aptos"/>
                <a:ea typeface="Aptos"/>
                <a:cs typeface="Aptos"/>
              </a:rPr>
              <a:t>duration exclue : inconnue avant l'appel.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3F10935-9DCE-4F61-9949-B6EE169D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3/12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319B1-1606-4FB9-A257-F6E16CEA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14738"/>
            <a:ext cx="4557522" cy="2429447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45579-367F-4FAB-A17A-D30CAC3D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14738"/>
            <a:ext cx="455752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5084B-4EC4-456F-B0D7-7F5586D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" y="3786188"/>
            <a:ext cx="421462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/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Contrat dataset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EB412-1722-43C7-8BBC-D54F1CA5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" y="4071938"/>
            <a:ext cx="421462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/>
            <a:r>
              <a:rPr sz="1050">
                <a:solidFill>
                  <a:srgbClr val="5C697A"/>
                </a:solidFill>
                <a:latin typeface="Aptos"/>
                <a:ea typeface="Aptos"/>
                <a:cs typeface="Aptos"/>
              </a:rPr>
              <a:t>Contrôles de provenance et d'intégrité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0D2DB-453D-4393-A24A-A11F4A67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4095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BE19E0-D740-4771-AD49-EEFF96AF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F49E5-4388-4019-AA55-6C0DB84D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71975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Champ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B8E98-10DE-495D-AB03-1A8258B2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71975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Valeur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C28D1-1698-42C0-941D-631556B0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SHA-256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D4848-D54E-4413-8A75-B6772630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66725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74adfc...afb4d8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155BD5-38BE-439A-B0B1-080786B1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BE603B-A601-4C8D-8674-7A33E500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Séparateur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A7EA75-6795-46E9-9FBA-49190683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953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point-virgule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D6C754-6FF0-4FA5-B3A8-D7D628B8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C55788-98B6-4EEC-9AF8-564E5DB5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3875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Colonnes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C69054-4F7A-4783-AEB6-EEAA0496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23875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70F8D-CE12-46C3-9896-74350CBB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8640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19C6E9-E8BD-4A4F-BFF0-0B157148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Cible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C88D22-6057-4EBF-9A78-EE8BD221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245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y = yes/no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519E37-2831-4DDD-9E46-177C0832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/>
            <a:r>
              <a:rPr sz="1050">
                <a:solidFill>
                  <a:srgbClr val="6B778C"/>
                </a:solidFill>
                <a:latin typeface="Aptos"/>
                <a:ea typeface="Aptos"/>
                <a:cs typeface="Aptos"/>
              </a:rPr>
              <a:t>Le manifeste versionné rend la source vérifiable.</a:t>
            </a:r>
          </a:p>
        </p:txBody>
      </p:sp>
    </p:spTree>
    <p:extLst>
      <p:ext uri="{BB962C8B-B14F-4D97-AF65-F5344CB8AC3E}">
        <p14:creationId xmlns:p14="http://schemas.microsoft.com/office/powerpoint/2010/main" val="3601774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28D6794-229E-4697-B44D-EA85529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04775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Architecture du projet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C30C630-EC9C-4775-88AF-F80E2706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0467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C697A"/>
                </a:solidFill>
                <a:latin typeface="Aptos"/>
                <a:ea typeface="Aptos"/>
                <a:cs typeface="Aptos"/>
              </a:rPr>
              <a:t>Flux Databricks et scikit-learn de bout en bout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F0FB19-7E46-4EAD-8480-C26ABF95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0972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4498829-BD71-457D-8109-D9931FEE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828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3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CSV UCI</a:t>
            </a:r>
          </a:p>
          <a:p xmlns:a="http://schemas.openxmlformats.org/drawingml/2006/main">
            <a:pPr algn="ctr"/>
            <a:r>
              <a:rPr sz="13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Volume UC</a:t>
            </a:r>
          </a:p>
        </p:txBody>
      </p:sp>
      <p:sp>
        <p:nvSpPr>
          <p:cNvPr id="6" name="Chevron 5">
            <a:extLst xmlns:a="http://schemas.openxmlformats.org/drawingml/2006/main">
              <a:ext uri="{FF2B5EF4-FFF2-40B4-BE49-F238E27FC236}">
                <a16:creationId xmlns:a16="http://schemas.microsoft.com/office/drawing/2014/main" id="{CE850C44-24B0-477B-8885-B54D6752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810512"/>
            <a:ext cx="347472" cy="2560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F2EF"/>
          </a:solidFill>
          <a:ln xmlns:a="http://schemas.openxmlformats.org/drawingml/2006/main">
            <a:solidFill>
              <a:srgbClr val="DCF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191C506-3E0B-402D-998B-49CC08C2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08760"/>
            <a:ext cx="1874519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3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Bronze Delta</a:t>
            </a:r>
          </a:p>
          <a:p xmlns:a="http://schemas.openxmlformats.org/drawingml/2006/main">
            <a:pPr algn="ctr"/>
            <a:r>
              <a:rPr sz="13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contrat</a:t>
            </a:r>
          </a:p>
        </p:txBody>
      </p:sp>
      <p:sp>
        <p:nvSpPr>
          <p:cNvPr id="8" name="Chevron 7">
            <a:extLst xmlns:a="http://schemas.openxmlformats.org/drawingml/2006/main">
              <a:ext uri="{FF2B5EF4-FFF2-40B4-BE49-F238E27FC236}">
                <a16:creationId xmlns:a16="http://schemas.microsoft.com/office/drawing/2014/main" id="{E1B37568-8E49-4A76-8519-18D5EDB7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810512"/>
            <a:ext cx="347472" cy="2560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F2EF"/>
          </a:solidFill>
          <a:ln xmlns:a="http://schemas.openxmlformats.org/drawingml/2006/main">
            <a:solidFill>
              <a:srgbClr val="DCF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2005EFE-A3B0-4E4F-9E6B-08A79AED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508760"/>
            <a:ext cx="1874519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3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Silver Delta</a:t>
            </a:r>
          </a:p>
          <a:p xmlns:a="http://schemas.openxmlformats.org/drawingml/2006/main">
            <a:pPr algn="ctr"/>
            <a:r>
              <a:rPr sz="13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splits</a:t>
            </a:r>
          </a:p>
        </p:txBody>
      </p:sp>
      <p:sp>
        <p:nvSpPr>
          <p:cNvPr id="10" name="Chevron 9">
            <a:extLst xmlns:a="http://schemas.openxmlformats.org/drawingml/2006/main">
              <a:ext uri="{FF2B5EF4-FFF2-40B4-BE49-F238E27FC236}">
                <a16:creationId xmlns:a16="http://schemas.microsoft.com/office/drawing/2014/main" id="{6CF2954A-0228-49D6-9B0D-26EABBB5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10512"/>
            <a:ext cx="347472" cy="2560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F2EF"/>
          </a:solidFill>
          <a:ln xmlns:a="http://schemas.openxmlformats.org/drawingml/2006/main">
            <a:solidFill>
              <a:srgbClr val="DCF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9C33ED8-3360-41F9-994F-59462A87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508760"/>
            <a:ext cx="16459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3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Pipeline sklearn</a:t>
            </a:r>
          </a:p>
          <a:p xmlns:a="http://schemas.openxmlformats.org/drawingml/2006/main">
            <a:pPr algn="ctr"/>
            <a:r>
              <a:rPr sz="13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MLflow</a:t>
            </a:r>
          </a:p>
        </p:txBody>
      </p:sp>
      <p:sp>
        <p:nvSpPr>
          <p:cNvPr id="12" name="Chevron 11">
            <a:extLst xmlns:a="http://schemas.openxmlformats.org/drawingml/2006/main">
              <a:ext uri="{FF2B5EF4-FFF2-40B4-BE49-F238E27FC236}">
                <a16:creationId xmlns:a16="http://schemas.microsoft.com/office/drawing/2014/main" id="{9780ECF2-AFFD-403B-A699-A6BD54F7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10512"/>
            <a:ext cx="347472" cy="2560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F2EF"/>
          </a:solidFill>
          <a:ln xmlns:a="http://schemas.openxmlformats.org/drawingml/2006/main">
            <a:solidFill>
              <a:srgbClr val="DCF2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2015FAA-2660-4BD9-9C06-E742BE2B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508760"/>
            <a:ext cx="173736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3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Joblib + table</a:t>
            </a:r>
          </a:p>
          <a:p xmlns:a="http://schemas.openxmlformats.org/drawingml/2006/main">
            <a:pPr algn="ctr"/>
            <a:r>
              <a:rPr sz="13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prédictions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20EF26D-FB33-4B51-A08B-15D414AD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34640"/>
            <a:ext cx="4572000" cy="2697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AD595F8-828D-4B6D-8890-E8B2C592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34640"/>
            <a:ext cx="45720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DD9AEB4-632E-4D12-BF0A-0C17A78E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1" y="2999232"/>
            <a:ext cx="4242816" cy="1249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Points importants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GitHub reste la source de vérité du code.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Spark/Delta gouvernent les tables Bronze, Silver et prédictions.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pandas/scikit-learn gardent la modélisation alignée au cours.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Le test final reste isolé jusqu'au notebook 06.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12AE2E0-396C-4243-A885-2B27C447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4/12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D348C-69C2-47E0-A033-3E09D431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486400" cy="2926080"/>
          </a:xfrm>
          <a:prstGeom xmlns:a="http://schemas.openxmlformats.org/drawingml/2006/main" prst="roundRect">
            <a:avLst>
              <a:gd name="adj" fmla="val 2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2D98E-A9F9-46E9-B41F-02BB2355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48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821B3-1C36-4DF8-9A6B-2C68FE7C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" y="29146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/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Chaîne reproductible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E92FA-0272-4A33-A32B-88EBFEFD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" y="32004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/>
            <a:r>
              <a:rPr sz="1050">
                <a:solidFill>
                  <a:srgbClr val="5C697A"/>
                </a:solidFill>
                <a:latin typeface="Aptos"/>
                <a:ea typeface="Aptos"/>
                <a:cs typeface="Aptos"/>
              </a:rPr>
              <a:t>Même logique dans le repo, Databricks et les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494C7-EFFE-47B7-B751-7C1D1F13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C98EE-2B80-4E0C-A75E-D70960AB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4591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7000"/>
          </a:bodyPr>
          <a:lstStyle xmlns:a="http://schemas.openxmlformats.org/drawingml/2006/main"/>
          <a:p xmlns:a="http://schemas.openxmlformats.org/drawingml/2006/main">
            <a:pPr algn="l"/>
            <a:r>
              <a:rPr sz="1250">
                <a:solidFill>
                  <a:srgbClr val="243B53"/>
                </a:solidFill>
                <a:latin typeface="Aptos"/>
                <a:ea typeface="Aptos"/>
                <a:cs typeface="Aptos"/>
              </a:rPr>
              <a:t>00-03 : configuration, ingestion, EDA et Silver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7B3EB-83F2-47B3-A8AE-F1F107F2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6E898-D338-4C9C-AEFE-5F4282C2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52875"/>
            <a:ext cx="4591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7000"/>
          </a:bodyPr>
          <a:lstStyle xmlns:a="http://schemas.openxmlformats.org/drawingml/2006/main"/>
          <a:p xmlns:a="http://schemas.openxmlformats.org/drawingml/2006/main">
            <a:pPr algn="l"/>
            <a:r>
              <a:rPr sz="1250">
                <a:solidFill>
                  <a:srgbClr val="243B53"/>
                </a:solidFill>
                <a:latin typeface="Aptos"/>
                <a:ea typeface="Aptos"/>
                <a:cs typeface="Aptos"/>
              </a:rPr>
              <a:t>04-05 : baselines et tuning suivis dans MLflow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05DBB2-3400-40E7-8E6A-10E7149B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ECF4C-31E3-4017-8210-BA1567F0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4591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7000"/>
          </a:bodyPr>
          <a:lstStyle xmlns:a="http://schemas.openxmlformats.org/drawingml/2006/main"/>
          <a:p xmlns:a="http://schemas.openxmlformats.org/drawingml/2006/main">
            <a:pPr algn="l"/>
            <a:r>
              <a:rPr sz="1250">
                <a:solidFill>
                  <a:srgbClr val="243B53"/>
                </a:solidFill>
                <a:latin typeface="Aptos"/>
                <a:ea typeface="Aptos"/>
                <a:cs typeface="Aptos"/>
              </a:rPr>
              <a:t>06-07 : évaluation finale puis interprétation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A49852-5C4E-41B3-894D-E604F0DC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3BC5C7-A4C9-4795-B8CE-92314D5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591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7000"/>
          </a:bodyPr>
          <a:lstStyle xmlns:a="http://schemas.openxmlformats.org/drawingml/2006/main"/>
          <a:p xmlns:a="http://schemas.openxmlformats.org/drawingml/2006/main">
            <a:pPr algn="l"/>
            <a:r>
              <a:rPr sz="1250">
                <a:solidFill>
                  <a:srgbClr val="243B53"/>
                </a:solidFill>
                <a:latin typeface="Aptos"/>
                <a:ea typeface="Aptos"/>
                <a:cs typeface="Aptos"/>
              </a:rPr>
              <a:t>08 : sauvegarde joblib et table de prédictions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89B0D1-EE05-4B95-84D4-C508ACEA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4619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/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Avancement pipeline Databricks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0C0AD9-AD6A-4064-8CE8-27CCEA0E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4619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6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A92D11-52FD-466D-93A1-78E70306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4619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</p:spPr>
      </p:sp>
    </p:spTree>
    <p:extLst>
      <p:ext uri="{BB962C8B-B14F-4D97-AF65-F5344CB8AC3E}">
        <p14:creationId xmlns:p14="http://schemas.microsoft.com/office/powerpoint/2010/main" val="2107748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720A211-B149-4D82-9813-84617EF6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04775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Stack technique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F2C4E00-CC47-4D2E-8295-57FB87E4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0467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C697A"/>
                </a:solidFill>
                <a:latin typeface="Aptos"/>
                <a:ea typeface="Aptos"/>
                <a:cs typeface="Aptos"/>
              </a:rPr>
              <a:t>Chaque composant a un rôle clair dans le pipeline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AC68DAB-7A56-4F88-90D9-B99C27F6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0972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4258E06-A556-4E22-B7ED-75940A53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74320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8F0C76B-4C13-4569-A819-F4486135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7432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AA22A9-17A8-43FC-A3C1-6BC065E0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1581912"/>
            <a:ext cx="241401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Databricks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Git Folder connecté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Compute serverless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Unity Catalog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D583D12-625D-4A78-9494-F8FFCA4E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1417320"/>
            <a:ext cx="274320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0E5A27B-14E0-4E53-8064-E08CF1E1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1417320"/>
            <a:ext cx="27432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20223AF-7F9C-4F2D-84C2-A5E21718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1" y="1581912"/>
            <a:ext cx="241401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Delta Lake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Tables Bronze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Table Silver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Table prédictions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D715E01-90CD-43D7-BB95-2E572D49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17320"/>
            <a:ext cx="274320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545820E-D942-42D2-B091-E1581E97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17320"/>
            <a:ext cx="27432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6CB4D58-F4CF-4A5F-B5F0-71E2D0ED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581912"/>
            <a:ext cx="241401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Spark + pandas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Contrôles de tables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Transformations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Conversion locale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5609E51-87D1-4A34-9627-CA5003EB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274320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974941-0D02-4F92-BA30-5E1B4740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27432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06D1EB4-03F4-44E8-B449-BFDEFCA6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3822191"/>
            <a:ext cx="241401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scikit-learn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Pipeline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ColumnTransformer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RandomForest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1F11D57-A11E-4860-A530-961E233A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3657600"/>
            <a:ext cx="274320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60CA432-30A7-46EF-8925-9AA01349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3657600"/>
            <a:ext cx="27432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588D39D-373F-4C1F-A772-78C8B613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1" y="3822191"/>
            <a:ext cx="241401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MLflow + joblib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Expériences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Métriques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Artefacts modèle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686BF03-7BE5-4195-8840-4A4168CC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274320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404CB97-FD9A-4706-A332-1E789A89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27432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63818D3-C5C4-4D2C-A88A-AF02CD89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822191"/>
            <a:ext cx="241401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DVC + GitHub Actions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Provenance CSV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Tests pytest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Compilation Python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FDF4A36-CD14-4F95-A5A7-1684E613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480775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B3791FC-A988-49B5-9C25-FF943FA4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04775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Prétraitement sans fuite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DC6DBF9-CAB6-4120-8685-8D82CC28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0467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C697A"/>
                </a:solidFill>
                <a:latin typeface="Aptos"/>
                <a:ea typeface="Aptos"/>
                <a:cs typeface="Aptos"/>
              </a:rPr>
              <a:t>La donnée est séparée avant tout apprentissage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3CC5FE-7FE8-47DA-B2E4-AE5CCDEB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0972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AA4BE74-4E07-4008-B630-005DEF3A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54480"/>
            <a:ext cx="3474720" cy="160227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340CCD8-74E9-4119-BD70-44C1C98E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54480"/>
            <a:ext cx="34747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95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A82D8F-A50A-42B4-A4E7-9BA72E7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771273"/>
            <a:ext cx="3145536" cy="12618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Bronze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Copie contrôlée du CSV officiel.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SHA-256 et numéro de ligne source.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Point d'audit avant transformation.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AC59F2E-C077-494B-8997-12E42661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554479"/>
            <a:ext cx="3474720" cy="158857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D4AE96A-112A-467B-84C8-D4922113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554480"/>
            <a:ext cx="34747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94A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F41857-578E-4BC6-A581-CE412A51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79" y="1719072"/>
            <a:ext cx="3145536" cy="12618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Silver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41 176 lignes après 12 doublons retirés.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Cible y encodée en 0/1.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Splits chronologiques train/validation/test.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4AA466F-9A13-4F3A-A133-F7DB499B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554480"/>
            <a:ext cx="3474720" cy="160227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041BD54-3282-49E4-8EE0-C9BB396C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554480"/>
            <a:ext cx="34747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C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2B739A2-0E1E-4E18-96E0-1EBD3F03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9072"/>
            <a:ext cx="3145536" cy="3310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Variables déployables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duration exclue.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pdays=999 transformé en indicateurs.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unknown conservé explicitement.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FD9D0B-EDA3-460E-A4FA-75CAE068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73" y="3970574"/>
            <a:ext cx="5491727" cy="815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Pourquoi cette préparation ?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Elle rend la validation reproductible et évite d'apprendre sur le futur.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1FDE829-7216-4645-AC67-A9054E79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6/12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E93F9-89DA-4A44-98A5-9936A794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870" y="3273552"/>
            <a:ext cx="4373594" cy="2357628"/>
          </a:xfrm>
          <a:prstGeom xmlns:a="http://schemas.openxmlformats.org/drawingml/2006/main" prst="roundRect">
            <a:avLst>
              <a:gd name="adj" fmla="val 32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BE261-D91A-4022-B28F-85C526DE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870" y="3273552"/>
            <a:ext cx="4373594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A3438-926F-4035-87B5-A296E53E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320" y="3445002"/>
            <a:ext cx="403069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/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Split chronologique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ABE12-9949-42C9-B532-BC31359D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320" y="3730752"/>
            <a:ext cx="403069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/>
            <a:r>
              <a:rPr sz="1050">
                <a:solidFill>
                  <a:srgbClr val="5C697A"/>
                </a:solidFill>
                <a:latin typeface="Aptos"/>
                <a:ea typeface="Aptos"/>
                <a:cs typeface="Aptos"/>
              </a:rPr>
              <a:t>60 % train | 20 % validation | 20 %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0F332-A09A-4498-BC8D-003D9695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62400"/>
            <a:ext cx="3476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/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Train : passé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BA421-DED2-46B7-A3B0-E668D54A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34766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EEF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9BCDC-1319-45EA-B8FA-0C5A6785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20859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4B8A6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871BF-778E-4F49-8657-BB566A58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3476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/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Validation : choix modèle/seuil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A0D58-7957-488D-A2B4-F8E7844F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0"/>
            <a:ext cx="34766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EEF6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8597D3-C7D2-49A7-BA20-F780C9FC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0"/>
            <a:ext cx="6953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497D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3F66AC-B077-49EE-9877-4447622D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43500"/>
            <a:ext cx="3476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/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Test : consultation unique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5CF5D6-B59F-4539-8D99-25B7D669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53050"/>
            <a:ext cx="34766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EEF6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DF67B2-7484-4351-A481-B296D006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53050"/>
            <a:ext cx="6953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7706"/>
          </a:solidFill>
        </p:spPr>
      </p:sp>
    </p:spTree>
    <p:extLst>
      <p:ext uri="{BB962C8B-B14F-4D97-AF65-F5344CB8AC3E}">
        <p14:creationId xmlns:p14="http://schemas.microsoft.com/office/powerpoint/2010/main" val="983047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A7A93D7-0E4E-575D-4EFB-EE73BDD9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04775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Modélisation suivie dans MLflow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E6A644-FD44-BA98-60C2-9926F6B5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0467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C697A"/>
                </a:solidFill>
                <a:latin typeface="Aptos"/>
                <a:ea typeface="Aptos"/>
                <a:cs typeface="Aptos"/>
              </a:rPr>
              <a:t>Baselines, tuning contrôlé et décision figée avant le test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1D3CBC-FA26-5712-53A4-86CC21FE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0972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FB62000-27A5-8F09-79DD-EA39BB6F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7/12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436659E-35FE-18B5-05CF-50709089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06" y="4270159"/>
            <a:ext cx="2097283" cy="967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B3F96F3-4F1B-4FCC-BF0B-826BD9BD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06" y="2219417"/>
            <a:ext cx="2203815" cy="1873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0B3DF-36AC-420B-A07C-E5C2C1E2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2" y="1329881"/>
            <a:ext cx="10523030" cy="4989671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E372A-4A75-47C2-9645-D263F7DA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2" y="1329881"/>
            <a:ext cx="1052303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0297E-82B6-4AC0-BA8D-E414BF76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" y="1501331"/>
            <a:ext cx="101801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/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Trajectoire de modélisation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AE5843-770D-4E15-8860-6665F81C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" y="1787081"/>
            <a:ext cx="1018013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/>
            <a:r>
              <a:rPr sz="1050">
                <a:solidFill>
                  <a:srgbClr val="5C697A"/>
                </a:solidFill>
                <a:latin typeface="Aptos"/>
                <a:ea typeface="Aptos"/>
                <a:cs typeface="Aptos"/>
              </a:rPr>
              <a:t>Sélection sur validation, puis évaluation finale unique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184CFF-4F65-4ACF-9E76-6612773C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6477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ADF2B7-7537-4B3F-86E2-5D6D07C2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B0A34-2752-49A1-87FB-79191C4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62175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Étape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F44151-C7F7-4642-A527-A81C73D3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650" y="2162175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Preuve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0B9171-085B-4F7B-B16C-961AF4FE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2162175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Décision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ED0625-C2C0-4A30-9EA3-D3AD0B97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04 Baselines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D3C9CE-1E3A-4CD9-BBF9-06A14DBC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650" y="245745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5 runs MLflow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A3ADB7-D61B-4A8B-85F8-2E9BF5B6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245745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Comparer les familles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070E6E-81DC-466A-BBBE-9D93DFD3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13582F-9A61-47D7-AE71-D121D42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05 Tuning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7FAE3A-920F-4F7D-85A5-D54D13C2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650" y="274320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validation 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449427-4D37-4D1C-9138-2301E5C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274320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Random forest figée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EA4CB6-19EA-41D9-9B67-F46A2015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F6B46E-329A-4F30-A3E8-6BC9D03F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06 Final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60FB3A-1977-44CD-8400-05EE33DC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650" y="302895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run 0de8816...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46E646-923E-4022-8598-5CD2193B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02895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Test consulté une fois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7C9DA0-1286-47A9-A587-6FF5E1B6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506E85-042E-4C99-9433-C42C910B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08 Inference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B8A9B9-EF3C-4DFA-884E-DD8DA760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650" y="331470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run febd0ffd...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2C47A0-C376-4BE4-AFA5-A17D3526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314700"/>
            <a:ext cx="204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Joblib + table Delta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6B7087-F2DC-4B67-A598-0A5266D6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FEFE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9FE90F-DCBD-4C23-B6FC-EA3D730D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1381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A1064D-692F-42E1-8AF4-D1032CA2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1228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60526"/>
          </a:bodyPr>
          <a:lstStyle xmlns:a="http://schemas.openxmlformats.org/drawingml/2006/main"/>
          <a:p xmlns:a="http://schemas.openxmlformats.org/drawingml/2006/main">
            <a:pPr algn="ctr"/>
            <a:r>
              <a:rPr sz="19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0.5252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C571F5-97CB-4CCC-B632-AE8F18EA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38425"/>
            <a:ext cx="1228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950">
                <a:solidFill>
                  <a:srgbClr val="6B778C"/>
                </a:solidFill>
                <a:latin typeface="Aptos"/>
                <a:ea typeface="Aptos"/>
                <a:cs typeface="Aptos"/>
              </a:rPr>
              <a:t>seuil métier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F406AB-A51A-426A-BE3D-B889270D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9075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FEFE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ECEFA8-1073-4D35-897B-1620AE56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90750"/>
            <a:ext cx="1381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30635B-758B-4BB8-B992-1C38EE43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24100"/>
            <a:ext cx="1228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60526"/>
          </a:bodyPr>
          <a:lstStyle xmlns:a="http://schemas.openxmlformats.org/drawingml/2006/main"/>
          <a:p xmlns:a="http://schemas.openxmlformats.org/drawingml/2006/main">
            <a:pPr algn="ctr"/>
            <a:r>
              <a:rPr sz="19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train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278D6B-51FC-4698-98AA-4A59DD09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38425"/>
            <a:ext cx="1228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950">
                <a:solidFill>
                  <a:srgbClr val="6B778C"/>
                </a:solidFill>
                <a:latin typeface="Aptos"/>
                <a:ea typeface="Aptos"/>
                <a:cs typeface="Aptos"/>
              </a:rPr>
              <a:t>stratégie finale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722A9B-A82C-460D-A974-6CCBF24F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EC59F2-265A-487E-B6C7-4B0FEA10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8782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4038"/>
          </a:bodyPr>
          <a:lstStyle xmlns:a="http://schemas.openxmlformats.org/drawingml/2006/main"/>
          <a:p xmlns:a="http://schemas.openxmlformats.org/drawingml/2006/main">
            <a:pPr algn="l"/>
            <a:r>
              <a:rPr sz="1300">
                <a:solidFill>
                  <a:srgbClr val="243B53"/>
                </a:solidFill>
                <a:latin typeface="Aptos"/>
                <a:ea typeface="Aptos"/>
                <a:cs typeface="Aptos"/>
              </a:rPr>
              <a:t>Le test n'est pas utilisé pour choisir les hyperparamètres.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A59CFC-81AA-4A65-AA67-E0019370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B6FAA7-ECA6-40EA-A260-CD2C06A2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8782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4038"/>
          </a:bodyPr>
          <a:lstStyle xmlns:a="http://schemas.openxmlformats.org/drawingml/2006/main"/>
          <a:p xmlns:a="http://schemas.openxmlformats.org/drawingml/2006/main">
            <a:pPr algn="l"/>
            <a:r>
              <a:rPr sz="1300">
                <a:solidFill>
                  <a:srgbClr val="243B53"/>
                </a:solidFill>
                <a:latin typeface="Aptos"/>
                <a:ea typeface="Aptos"/>
                <a:cs typeface="Aptos"/>
              </a:rPr>
              <a:t>Le seuil vient de la validation et reste identique en inférence.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EF84CF-EAAB-409F-B178-E7DE2C24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B9FA83-E188-437F-9FA3-30E08E78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8782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4038"/>
          </a:bodyPr>
          <a:lstStyle xmlns:a="http://schemas.openxmlformats.org/drawingml/2006/main"/>
          <a:p xmlns:a="http://schemas.openxmlformats.org/drawingml/2006/main">
            <a:pPr algn="l"/>
            <a:r>
              <a:rPr sz="1300">
                <a:solidFill>
                  <a:srgbClr val="243B53"/>
                </a:solidFill>
                <a:latin typeface="Aptos"/>
                <a:ea typeface="Aptos"/>
                <a:cs typeface="Aptos"/>
              </a:rPr>
              <a:t>Les artefacts MLflow conservent les métriques et fichiers générés.</a:t>
            </a:r>
          </a:p>
        </p:txBody>
      </p:sp>
    </p:spTree>
    <p:extLst>
      <p:ext uri="{BB962C8B-B14F-4D97-AF65-F5344CB8AC3E}">
        <p14:creationId xmlns:p14="http://schemas.microsoft.com/office/powerpoint/2010/main" val="41856110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8F035F3-48F6-41CE-A193-BC6672CE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04775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Reproductibilité et CI/CD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C05A0F9-8773-4E5D-89DC-17A6F38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0467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C697A"/>
                </a:solidFill>
                <a:latin typeface="Aptos"/>
                <a:ea typeface="Aptos"/>
                <a:cs typeface="Aptos"/>
              </a:rPr>
              <a:t>Le projet est validé localement, sur GitHub et dans Databricks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BD4C3D-D219-4A86-B9EA-8B9C5903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0972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5D05503-036C-4598-B6B7-C6255154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5303520" cy="4480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AC8CA6-9D7B-4B4C-8E98-CBFDD33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53035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4D31EE-2A5C-4B39-BAF6-F90BAA5E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81912"/>
            <a:ext cx="4974336" cy="1313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Databricks CLI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Profil bank-marketing authentifié.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Git Folder synchronisé sur main.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Notebooks exécutés dans le workspace.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Artefacts dans MLflow et Volume UC.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C37EE58-5D6A-4148-B6A0-1DA762F2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303520" cy="4480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F68246-5309-49E7-8A87-2DE9223D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3035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4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9A51E9F-F7E5-466F-AD0D-3B767073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581912"/>
            <a:ext cx="4974336" cy="1287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GitHub Actions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Python 3.11 installé en CI.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pytest et py_compile lancés à chaque push.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Dernier workflow CI réussi.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DVC status à jour localement.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9D87A05-D717-4783-B1AA-1EFBEF14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8/12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03532-C8A9-48F5-B21F-92D0C5D8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43" y="2990850"/>
            <a:ext cx="503663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6965C-85E1-4DAD-B102-DE75A628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43" y="2990850"/>
            <a:ext cx="503663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72BE9-3738-4E27-A21B-5D156D26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93" y="3162300"/>
            <a:ext cx="46937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/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Commande de synchronisation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BD77D-E892-4F32-B31E-5AC2FE75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93" y="3448050"/>
            <a:ext cx="469373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/>
            <a:r>
              <a:rPr sz="1050">
                <a:solidFill>
                  <a:srgbClr val="5C697A"/>
                </a:solidFill>
                <a:latin typeface="Aptos"/>
                <a:ea typeface="Aptos"/>
                <a:cs typeface="Aptos"/>
              </a:rPr>
              <a:t>Databricks Git Folder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CC7D0-5E3B-4A17-BFB7-B37BBADB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51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databricks repos update /Users/.../bank-marketing-project</a:t>
            </a:r>
          </a:p>
          <a:p xmlns:a="http://schemas.openxmlformats.org/drawingml/2006/main">
            <a:r>
              <a:rPr sz="1100">
                <a:solidFill>
                  <a:srgbClr val="243B53"/>
                </a:solidFill>
                <a:latin typeface="Aptos"/>
                <a:ea typeface="Aptos"/>
                <a:cs typeface="Aptos"/>
              </a:rPr>
              <a:t>--branch main --dangerously-force-discard-all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97687-3E94-440B-A0EF-71789E48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451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/>
            <a:r>
              <a:rPr sz="1050">
                <a:solidFill>
                  <a:srgbClr val="6B778C"/>
                </a:solidFill>
                <a:latin typeface="Aptos"/>
                <a:ea typeface="Aptos"/>
                <a:cs typeface="Aptos"/>
              </a:rPr>
              <a:t>Source de vérité : dépôt GitHub, pas copies manuelles.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AACFB-85B8-4919-B6E0-D7043649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90850"/>
            <a:ext cx="487984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A7800-3D94-488F-835C-848A70B1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90850"/>
            <a:ext cx="487984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868D0-458A-4164-AD11-8618A9C4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962" y="3162300"/>
            <a:ext cx="453694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/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Validation automatisée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6ABC3-3C7B-4981-9445-2AE5A0AF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962" y="3448050"/>
            <a:ext cx="453694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/>
            <a:r>
              <a:rPr sz="1050">
                <a:solidFill>
                  <a:srgbClr val="5C697A"/>
                </a:solidFill>
                <a:latin typeface="Aptos"/>
                <a:ea typeface="Aptos"/>
                <a:cs typeface="Aptos"/>
              </a:rPr>
              <a:t>pytest + compilation Python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BF691-E5A1-4AC2-9502-7A74F8A6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114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FEFE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49ED9-BDA7-4BAC-9516-2657793E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C2D5C-AC58-47CD-9C51-8429EB90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60526"/>
          </a:bodyPr>
          <a:lstStyle xmlns:a="http://schemas.openxmlformats.org/drawingml/2006/main"/>
          <a:p xmlns:a="http://schemas.openxmlformats.org/drawingml/2006/main">
            <a:pPr algn="ctr"/>
            <a:r>
              <a:rPr sz="19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31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3601D-54C6-4A1E-910A-2FCDC26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0052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950">
                <a:solidFill>
                  <a:srgbClr val="6B778C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00C1CB-83C8-4F7D-A8D6-76EE65F4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114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FEFE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4CC385-EB03-4943-8B89-6E15AF03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54C4A-C724-418E-8494-65EB9660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60526"/>
          </a:bodyPr>
          <a:lstStyle xmlns:a="http://schemas.openxmlformats.org/drawingml/2006/main"/>
          <a:p xmlns:a="http://schemas.openxmlformats.org/drawingml/2006/main">
            <a:pPr algn="ctr"/>
            <a:r>
              <a:rPr sz="19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CI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EB809D-F5B0-407D-82B5-AB37D7B6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0052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950">
                <a:solidFill>
                  <a:srgbClr val="6B778C"/>
                </a:solidFill>
                <a:latin typeface="Aptos"/>
                <a:ea typeface="Aptos"/>
                <a:cs typeface="Aptos"/>
              </a:rPr>
              <a:t>réussie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EB45A8-6FE6-45A2-884B-D6830897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52850"/>
            <a:ext cx="114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FEFE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ADE2A4-AB59-4046-BC2C-1C945C58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528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851A5E-1E6B-46A6-9A7C-A9B00990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862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60526"/>
          </a:bodyPr>
          <a:lstStyle xmlns:a="http://schemas.openxmlformats.org/drawingml/2006/main"/>
          <a:p xmlns:a="http://schemas.openxmlformats.org/drawingml/2006/main">
            <a:pPr algn="ctr"/>
            <a:r>
              <a:rPr sz="19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DVC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8FA19-961C-4E4E-B627-4730595D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0052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950">
                <a:solidFill>
                  <a:srgbClr val="6B778C"/>
                </a:solidFill>
                <a:latin typeface="Aptos"/>
                <a:ea typeface="Aptos"/>
                <a:cs typeface="Aptos"/>
              </a:rPr>
              <a:t>à jour</a:t>
            </a:r>
          </a:p>
        </p:txBody>
      </p:sp>
    </p:spTree>
    <p:extLst>
      <p:ext uri="{BB962C8B-B14F-4D97-AF65-F5344CB8AC3E}">
        <p14:creationId xmlns:p14="http://schemas.microsoft.com/office/powerpoint/2010/main" val="6672925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28A3FA9-52B8-41C1-B0FB-14D6C9FE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04775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Résultats finaux et démonstration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5C8F970-368D-458A-B354-24FEA37E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0467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C697A"/>
                </a:solidFill>
                <a:latin typeface="Aptos"/>
                <a:ea typeface="Aptos"/>
                <a:cs typeface="Aptos"/>
              </a:rPr>
              <a:t>Le modèle priorise mieux que le hasard, mais garde un rappel faible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E2E01DA-0FD9-45E0-B9CB-92FCDA28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0972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507DB75-9145-4188-AA83-D19F95F3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21945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5A84674-0D7F-4FAC-9CB8-87141847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1626904"/>
            <a:ext cx="2048255" cy="623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2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0.349</a:t>
            </a:r>
          </a:p>
          <a:p xmlns:a="http://schemas.openxmlformats.org/drawingml/2006/main">
            <a:pPr algn="ctr"/>
            <a:r>
              <a:rPr sz="1050">
                <a:solidFill>
                  <a:srgbClr val="6B778C"/>
                </a:solidFill>
                <a:latin typeface="Aptos"/>
                <a:ea typeface="Aptos"/>
                <a:cs typeface="Aptos"/>
              </a:rPr>
              <a:t>PR-AUC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14054D7-A30E-404A-9EDD-65974CD8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1417320"/>
            <a:ext cx="21945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AF65224-1E9C-4703-8C1E-E7127311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527048"/>
            <a:ext cx="204825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2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0.558</a:t>
            </a:r>
          </a:p>
          <a:p xmlns:a="http://schemas.openxmlformats.org/drawingml/2006/main">
            <a:pPr algn="ctr"/>
            <a:r>
              <a:rPr sz="1050">
                <a:solidFill>
                  <a:srgbClr val="6B778C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95A3519-3EAC-4E8A-9AB7-0FD9A569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1417320"/>
            <a:ext cx="21945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BFFFFEE-EDB7-45AC-904C-69B8DB1C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27048"/>
            <a:ext cx="204825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2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0.404</a:t>
            </a:r>
          </a:p>
          <a:p xmlns:a="http://schemas.openxmlformats.org/drawingml/2006/main">
            <a:pPr algn="ctr"/>
            <a:r>
              <a:rPr sz="1050">
                <a:solidFill>
                  <a:srgbClr val="6B778C"/>
                </a:solidFill>
                <a:latin typeface="Aptos"/>
                <a:ea typeface="Aptos"/>
                <a:cs typeface="Aptos"/>
              </a:rPr>
              <a:t>précision yes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B965338-76F4-4E7F-B76C-7334084C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1417320"/>
            <a:ext cx="21945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D0384C-2E40-4AA2-B681-C1396CE8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527048"/>
            <a:ext cx="204825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2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0.128</a:t>
            </a:r>
          </a:p>
          <a:p xmlns:a="http://schemas.openxmlformats.org/drawingml/2006/main">
            <a:pPr algn="ctr"/>
            <a:r>
              <a:rPr sz="1050">
                <a:solidFill>
                  <a:srgbClr val="6B778C"/>
                </a:solidFill>
                <a:latin typeface="Aptos"/>
                <a:ea typeface="Aptos"/>
                <a:cs typeface="Aptos"/>
              </a:rPr>
              <a:t>rappel yes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774E737-E24A-49E3-A7A7-AE121A18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1417320"/>
            <a:ext cx="132588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A465183-6631-4AF2-AAFC-E43E65AD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1527048"/>
            <a:ext cx="11795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2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1.315</a:t>
            </a:r>
          </a:p>
          <a:p xmlns:a="http://schemas.openxmlformats.org/drawingml/2006/main">
            <a:pPr algn="ctr"/>
            <a:r>
              <a:rPr sz="1050">
                <a:solidFill>
                  <a:srgbClr val="6B778C"/>
                </a:solidFill>
                <a:latin typeface="Aptos"/>
                <a:ea typeface="Aptos"/>
                <a:cs typeface="Aptos"/>
              </a:rPr>
              <a:t>lift top 10 %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D7A7A12-B2C8-4055-AE71-A0735114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0"/>
            <a:ext cx="539496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DDF5EE-8E66-42DC-A676-656EBAFF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743200"/>
            <a:ext cx="53035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4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6DB75DE-C0C0-4863-A061-98D11379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9/12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0AEAB-8CA1-47A0-9265-4162DB87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71597"/>
            <a:ext cx="7088886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036AE-8AE2-4004-B726-7112FC52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71597"/>
            <a:ext cx="70888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818FE-D547-4E91-95F6-9A7E2D46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43047"/>
            <a:ext cx="674598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/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Test chronologique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0F553-57C6-41A0-974B-5A9CFA77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328797"/>
            <a:ext cx="674598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/>
            <a:r>
              <a:rPr sz="1050">
                <a:solidFill>
                  <a:srgbClr val="5C697A"/>
                </a:solidFill>
                <a:latin typeface="Aptos"/>
                <a:ea typeface="Aptos"/>
                <a:cs typeface="Aptos"/>
              </a:rPr>
              <a:t>8 236 lignes | 2 539 positives | seuil 0.525244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65EF9-DD75-4719-A2B4-70ECF1EC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3714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ABD28-908B-47A1-909C-83FA0C6F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7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90986C-809A-4CA7-9FB6-988A0EF9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480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FE815-36EE-48D5-B9C0-B79B9855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480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Prédit 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345627-1E67-4E5B-902F-E8A63815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480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Prédit yes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C87E6C-52ED-4D44-9B96-212FC2E7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433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Réel no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037D64-1BEE-4198-9FD4-85D7E84D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433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5 219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05F533-3412-4A99-A99D-0D42AB57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478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F0EDCF-6C57-4FDB-B13D-C1466E66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910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36392D-B670-4AA7-A0CD-F75D9CEE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291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Réel yes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9D8FBE-9908-4933-AD85-E84D6DA8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291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2 215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10DF58-D0E5-4CF1-BAE7-FB0855AA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/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324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1FD75C-BCE0-48F1-9ABC-AFC9B50C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00450"/>
            <a:ext cx="114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FEFE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2E890C-93EC-40B3-A644-A605E9CC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004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BD1304-02FE-4C04-8249-E8A2E5CF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338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60526"/>
          </a:bodyPr>
          <a:lstStyle xmlns:a="http://schemas.openxmlformats.org/drawingml/2006/main"/>
          <a:p xmlns:a="http://schemas.openxmlformats.org/drawingml/2006/main">
            <a:pPr algn="ctr"/>
            <a:r>
              <a:rPr sz="19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824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22D343-4981-4122-8847-515A7508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04812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97891"/>
          </a:bodyPr>
          <a:lstStyle xmlns:a="http://schemas.openxmlformats.org/drawingml/2006/main"/>
          <a:p xmlns:a="http://schemas.openxmlformats.org/drawingml/2006/main">
            <a:pPr algn="ctr"/>
            <a:r>
              <a:rPr sz="950">
                <a:solidFill>
                  <a:srgbClr val="6B778C"/>
                </a:solidFill>
                <a:latin typeface="Aptos"/>
                <a:ea typeface="Aptos"/>
                <a:cs typeface="Aptos"/>
              </a:rPr>
              <a:t>clients top 10 %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C2363A-408E-4F4C-9B78-70492561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0450"/>
            <a:ext cx="114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FEFE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4B75AC-E742-4923-BEA2-6633525F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04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BECCE8-70F9-477D-BA55-75813473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338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60526"/>
          </a:bodyPr>
          <a:lstStyle xmlns:a="http://schemas.openxmlformats.org/drawingml/2006/main"/>
          <a:p xmlns:a="http://schemas.openxmlformats.org/drawingml/2006/main">
            <a:pPr algn="ctr"/>
            <a:r>
              <a:rPr sz="19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0.405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1AB026-0B54-45C6-BAB3-4D9F67FF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04812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84604"/>
          </a:bodyPr>
          <a:lstStyle xmlns:a="http://schemas.openxmlformats.org/drawingml/2006/main"/>
          <a:p xmlns:a="http://schemas.openxmlformats.org/drawingml/2006/main">
            <a:pPr algn="ctr"/>
            <a:r>
              <a:rPr sz="950">
                <a:solidFill>
                  <a:srgbClr val="6B778C"/>
                </a:solidFill>
                <a:latin typeface="Aptos"/>
                <a:ea typeface="Aptos"/>
                <a:cs typeface="Aptos"/>
              </a:rPr>
              <a:t>précision top 10 %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A73B25-E6AD-4FC2-9F52-CE8B1CE0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196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wrap="square" anchor="ctr">
            <a:normAutofit fontScale="74041"/>
          </a:bodyPr>
          <a:lstStyle xmlns:a="http://schemas.openxmlformats.org/drawingml/2006/main"/>
          <a:p xmlns:a="http://schemas.openxmlformats.org/drawingml/2006/main">
            <a:pPr algn="l"/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Interprétation : priorisation utile, rappel trop faible pour automatiser une décision complète.</a:t>
            </a:r>
          </a:p>
        </p:txBody>
      </p:sp>
    </p:spTree>
    <p:extLst>
      <p:ext uri="{BB962C8B-B14F-4D97-AF65-F5344CB8AC3E}">
        <p14:creationId xmlns:p14="http://schemas.microsoft.com/office/powerpoint/2010/main" val="985752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EE1CF4-BC58-4708-B6B1-75FA4FC6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04775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Difficultés rencontrées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3FDD4DF-4657-4D51-9A6B-56E452B9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0467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C697A"/>
                </a:solidFill>
                <a:latin typeface="Aptos"/>
                <a:ea typeface="Aptos"/>
                <a:cs typeface="Aptos"/>
              </a:rPr>
              <a:t>Problèmes réels et solutions appliquées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07A6954-3312-432A-AEF8-E2FBDFED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0972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D675991-5F39-4AB2-9315-7A465E8F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274320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52449D-EEE8-42D6-9F1E-90692FD2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27432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CF1F360-C13F-44A6-A67D-5591318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81912"/>
            <a:ext cx="2414016" cy="1066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Databricks Free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Accès Internet sortant limité.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CSV téléversé dans le Volume.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Exécution gardée stable dans le workspace.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BD8FBC0-7601-4C46-BB77-AC91F093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417320"/>
            <a:ext cx="274320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711CE6-8033-43C9-8D23-207C6A99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417320"/>
            <a:ext cx="27432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0383C28-2ACF-4CA9-8D36-C844E9C4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1581912"/>
            <a:ext cx="24140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Git Folder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Copies manuelles conflictuelles.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GitHub choisi comme source de vérité.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Synchronisation forcée lorsque nécessaire.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57902C2-62AD-42CE-9E65-5CF9758F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1417320"/>
            <a:ext cx="2724912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5831206-B65B-428E-A39F-237464E1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1417320"/>
            <a:ext cx="2724912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2831CFB-63CE-4F46-A4E3-FF01ADF9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581912"/>
            <a:ext cx="2395728" cy="1066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MLflow serverless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Registry URI à fixer explicitement.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Autolog activé dans les notebooks.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Runs séparés pour chaque étape.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4555A98-F324-4F7E-AE6B-4A6BA309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1417320"/>
            <a:ext cx="197510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108A1E-845B-4EE3-8993-34E3866B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1417320"/>
            <a:ext cx="197510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4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25C1A99-6B64-4A9E-A90A-47815B4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581912"/>
            <a:ext cx="16459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Modèle faible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Rappel positif bas sur le test.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Résultats présentés sans exagération.</a:t>
            </a:r>
          </a:p>
          <a:p xmlns:a="http://schemas.openxmlformats.org/drawingml/2006/main">
            <a:r>
              <a:rPr sz="1050">
                <a:solidFill>
                  <a:srgbClr val="243B53"/>
                </a:solidFill>
                <a:latin typeface="Aptos"/>
                <a:ea typeface="Aptos"/>
                <a:cs typeface="Aptos"/>
              </a:rPr>
              <a:t>Priorisation plutôt que décision finale.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56A0883-8C53-4969-8483-3FECAED7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0480"/>
            <a:ext cx="10789920" cy="630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Lecture projet</a:t>
            </a:r>
          </a:p>
          <a:p xmlns:a="http://schemas.openxmlformats.org/drawingml/2006/main">
            <a:r>
              <a:rPr sz="1250">
                <a:solidFill>
                  <a:srgbClr val="243B53"/>
                </a:solidFill>
                <a:latin typeface="Aptos"/>
                <a:ea typeface="Aptos"/>
                <a:cs typeface="Aptos"/>
              </a:rPr>
              <a:t>Les défis principaux ont été la reproductibilité, la fuite de données et l'interprétation responsable.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10D19C7-1D0F-4C20-B6BB-2BF581B8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4196295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C1F4EEA-D247-4E8B-BA73-9FB14829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04775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Limites et améliorations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1BEA16F-EBB2-4E27-92E0-027D08CC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0467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C697A"/>
                </a:solidFill>
                <a:latin typeface="Aptos"/>
                <a:ea typeface="Aptos"/>
                <a:cs typeface="Aptos"/>
              </a:rPr>
              <a:t>Ce que le projet fait bien et ce qu'il reste à renforcer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2C44A6-C1D5-4E1E-AAFC-8C908D6A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0972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A68A9F9-A394-48D8-85D2-4A35DDD3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5486400" cy="16099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C2EE7FF-0855-4E2B-8E2C-3EE4A48D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54864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5AB0076-D968-418C-A640-205511F7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81912"/>
            <a:ext cx="5157216" cy="11182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Limites actuelles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Rappel yes faible : beaucoup de souscriptions restent manquées.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Historique 2008-2010 seulement.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Variables économiques et de contact sensibles au contexte.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Importances prédictives, pas causales.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A971482-A591-4778-8667-5FB099BD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17320"/>
            <a:ext cx="5212080" cy="16099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750D20B-CB55-4FC6-B46C-B46B2281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17320"/>
            <a:ext cx="521208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4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D1E1415-DC08-412A-88D6-C7ED84E1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581912"/>
            <a:ext cx="4882896" cy="1313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Pistes d'amélioration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Tester d'autres seuils selon capacité réelle d'appels.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Analyser plus finement les sous-groupes.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Ajouter un remote DVC durable.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Répéter la démonstration orale et préparer les questions.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5B1C24-F53A-4512-B158-EF01EDD5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4229347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2DD7AF5-D297-481F-8A04-8CDB094A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04775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CFBBB1-D03E-44C3-AAC0-508954A0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0467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C697A"/>
                </a:solidFill>
                <a:latin typeface="Aptos"/>
                <a:ea typeface="Aptos"/>
                <a:cs typeface="Aptos"/>
              </a:rPr>
              <a:t>Un projet complet, reproductible et explicable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9600582-9049-40E5-BF01-B4657877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0972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24BA29D-085A-4C86-A43D-C1ED4F29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10972800" cy="899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Bilan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La pipeline va du CSV officiel jusqu'à une table de prédictions.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Le modèle joblib est sauvegardé et rechargeable.</a:t>
            </a:r>
          </a:p>
          <a:p xmlns:a="http://schemas.openxmlformats.org/drawingml/2006/main">
            <a:r>
              <a:rPr sz="1200">
                <a:solidFill>
                  <a:srgbClr val="243B53"/>
                </a:solidFill>
                <a:latin typeface="Aptos"/>
                <a:ea typeface="Aptos"/>
                <a:cs typeface="Aptos"/>
              </a:rPr>
              <a:t>Les métriques finales sont traçables dans MLflow.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4D44B99-538D-4260-BA1C-900158BC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333756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8AC4BDB-EDFC-4BEC-B10C-F8086032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333756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A8E7024-67B8-4965-A795-1D9A8142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07792"/>
            <a:ext cx="3008376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Acquis techniques</a:t>
            </a:r>
          </a:p>
          <a:p xmlns:a="http://schemas.openxmlformats.org/drawingml/2006/main">
            <a:r>
              <a:rPr sz="1080">
                <a:solidFill>
                  <a:srgbClr val="243B53"/>
                </a:solidFill>
                <a:latin typeface="Aptos"/>
                <a:ea typeface="Aptos"/>
                <a:cs typeface="Aptos"/>
              </a:rPr>
              <a:t>Databricks, Delta Lake et Unity Catalog.</a:t>
            </a:r>
          </a:p>
          <a:p xmlns:a="http://schemas.openxmlformats.org/drawingml/2006/main">
            <a:r>
              <a:rPr sz="1080">
                <a:solidFill>
                  <a:srgbClr val="243B53"/>
                </a:solidFill>
                <a:latin typeface="Aptos"/>
                <a:ea typeface="Aptos"/>
                <a:cs typeface="Aptos"/>
              </a:rPr>
              <a:t>MLflow, DVC, CI et GitHub Actions.</a:t>
            </a:r>
          </a:p>
          <a:p xmlns:a="http://schemas.openxmlformats.org/drawingml/2006/main">
            <a:r>
              <a:rPr sz="1080">
                <a:solidFill>
                  <a:srgbClr val="243B53"/>
                </a:solidFill>
                <a:latin typeface="Aptos"/>
                <a:ea typeface="Aptos"/>
                <a:cs typeface="Aptos"/>
              </a:rPr>
              <a:t>scikit-learn, validation et interprétation.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0B947CA-7E2B-4F46-A1C0-EECE5D0E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743200"/>
            <a:ext cx="333756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3DD14D8-0702-46D2-96CF-220BE4E8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743200"/>
            <a:ext cx="333756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E730738-6D4C-4C3E-B8E7-2A12197A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7792"/>
            <a:ext cx="3008376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Valeur du projet</a:t>
            </a:r>
          </a:p>
          <a:p xmlns:a="http://schemas.openxmlformats.org/drawingml/2006/main">
            <a:r>
              <a:rPr sz="1080">
                <a:solidFill>
                  <a:srgbClr val="243B53"/>
                </a:solidFill>
                <a:latin typeface="Aptos"/>
                <a:ea typeface="Aptos"/>
                <a:cs typeface="Aptos"/>
              </a:rPr>
              <a:t>Prioriser les appels avec une évaluation temporelle réaliste.</a:t>
            </a:r>
          </a:p>
          <a:p xmlns:a="http://schemas.openxmlformats.org/drawingml/2006/main">
            <a:r>
              <a:rPr sz="1080">
                <a:solidFill>
                  <a:srgbClr val="243B53"/>
                </a:solidFill>
                <a:latin typeface="Aptos"/>
                <a:ea typeface="Aptos"/>
                <a:cs typeface="Aptos"/>
              </a:rPr>
              <a:t>Transformer les scores en décision métier simple.</a:t>
            </a:r>
          </a:p>
          <a:p xmlns:a="http://schemas.openxmlformats.org/drawingml/2006/main">
            <a:r>
              <a:rPr sz="1080">
                <a:solidFill>
                  <a:srgbClr val="243B53"/>
                </a:solidFill>
                <a:latin typeface="Aptos"/>
                <a:ea typeface="Aptos"/>
                <a:cs typeface="Aptos"/>
              </a:rPr>
              <a:t>Expliquer les limites du modèle.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3001715-0972-426D-A0FA-CD34725C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743200"/>
            <a:ext cx="333756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1D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9C93B78-1341-4ACC-9F15-1C1EE515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743200"/>
            <a:ext cx="333756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4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E486879-F31A-4BE6-9E89-17EFF11B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907792"/>
            <a:ext cx="3008376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Prochaine étape</a:t>
            </a:r>
          </a:p>
          <a:p xmlns:a="http://schemas.openxmlformats.org/drawingml/2006/main">
            <a:r>
              <a:rPr sz="1080">
                <a:solidFill>
                  <a:srgbClr val="243B53"/>
                </a:solidFill>
                <a:latin typeface="Aptos"/>
                <a:ea typeface="Aptos"/>
                <a:cs typeface="Aptos"/>
              </a:rPr>
              <a:t>Présentation orale de 15 minutes.</a:t>
            </a:r>
          </a:p>
          <a:p xmlns:a="http://schemas.openxmlformats.org/drawingml/2006/main">
            <a:r>
              <a:rPr sz="1080">
                <a:solidFill>
                  <a:srgbClr val="243B53"/>
                </a:solidFill>
                <a:latin typeface="Aptos"/>
                <a:ea typeface="Aptos"/>
                <a:cs typeface="Aptos"/>
              </a:rPr>
              <a:t>Démonstration Databricks courte.</a:t>
            </a:r>
          </a:p>
          <a:p xmlns:a="http://schemas.openxmlformats.org/drawingml/2006/main">
            <a:r>
              <a:rPr sz="1080">
                <a:solidFill>
                  <a:srgbClr val="243B53"/>
                </a:solidFill>
                <a:latin typeface="Aptos"/>
                <a:ea typeface="Aptos"/>
                <a:cs typeface="Aptos"/>
              </a:rPr>
              <a:t>Questions sur métriques, fuite et limites.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7FC7BFE-D422-431B-8E53-833B8A90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1088136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2200" b="1">
                <a:solidFill>
                  <a:srgbClr val="0F3D56"/>
                </a:solidFill>
                <a:latin typeface="Aptos Display"/>
                <a:ea typeface="Aptos Display"/>
                <a:cs typeface="Aptos Display"/>
              </a:rPr>
              <a:t>Merci - Questions ?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0CDF4F-EFC8-41D0-806D-CF8A8D47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09360"/>
            <a:ext cx="11078674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Bank Marketing | Databricks + MLflow | Août 2026</a:t>
            </a:r>
          </a:p>
          <a:p xmlns:a="http://schemas.openxmlformats.org/drawingml/2006/main">
            <a:pPr algn="ctr"/>
            <a:r>
              <a:rPr sz="1000">
                <a:solidFill>
                  <a:srgbClr val="6B778C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01724541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2026-08-04T01:07:36.7070000Z</dcterms:created>
  <dcterms:modified xsi:type="dcterms:W3CDTF">2026-08-04T01:07:36.7070000Z</dcterms:modified>
</coreProperties>
</file>